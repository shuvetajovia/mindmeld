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20000" cy="1069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79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200"/>
            <a:ext cx="15120000" cy="10368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9200"/>
            <a:ext cx="162000" cy="1036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000" y="115200"/>
            <a:ext cx="14616000" cy="49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</a:rPr>
              <a:t>AI-Driven Two-Tier Landslide Early Warning &amp; Disaster Resilience Grid  for North-East India (NER)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" y="583200"/>
            <a:ext cx="14616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 i="1">
                <a:solidFill>
                  <a:srgbClr val="0284C7"/>
                </a:solidFill>
              </a:rPr>
              <a:t>XGBoost Two-Tier Stacking  |  Meta-Calibrator Fusion  |  Real-Time IoT Telemetry  |  InSAR Ground Deformation  |  Dijkstra Evacuation Routing  |  OASIS CAP v1.2 Multi-Lingual Alert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000" y="792000"/>
            <a:ext cx="9374400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0" i="0">
                <a:solidFill>
                  <a:srgbClr val="CBD5E1"/>
                </a:solidFill>
              </a:rPr>
              <a:t>Dr. R. Rajmohan  |  Disaster Management Research Group, SRM Institute of Science &amp; Technology  |  Coord: 20-30N, 88-98E  |  NH-10, NH-27, NH-29, NH-44</a:t>
            </a:r>
          </a:p>
        </p:txBody>
      </p:sp>
      <p:sp>
        <p:nvSpPr>
          <p:cNvPr id="9" name="Rectangle 8"/>
          <p:cNvSpPr/>
          <p:nvPr/>
        </p:nvSpPr>
        <p:spPr>
          <a:xfrm>
            <a:off x="12096000" y="799200"/>
            <a:ext cx="720000" cy="180000"/>
          </a:xfrm>
          <a:prstGeom prst="rect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96000" y="806400"/>
            <a:ext cx="72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1" i="0">
                <a:solidFill>
                  <a:srgbClr val="FFFFFF"/>
                </a:solidFill>
              </a:rPr>
              <a:t>Artificial Intelligence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44800" y="799200"/>
            <a:ext cx="720000" cy="1800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44800" y="806400"/>
            <a:ext cx="72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Geotechnical Eng.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93600" y="799200"/>
            <a:ext cx="720000" cy="1800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93600" y="806400"/>
            <a:ext cx="72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Satellite Remote Sensing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342400" y="799200"/>
            <a:ext cx="720000" cy="1800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342400" y="806400"/>
            <a:ext cx="720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</a:rPr>
              <a:t>Disaster Risk Reduction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000" y="1422000"/>
            <a:ext cx="4824000" cy="2088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4000" y="1432800"/>
            <a:ext cx="4752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Study Context &amp; Problem Statement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8000" y="1645200"/>
            <a:ext cx="4824000" cy="73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CBD5E1"/>
                </a:solidFill>
              </a:rPr>
              <a:t>North-East India reports &gt;200 monsoon fatalities annually from landslides across 8 national highways. Existing threshold systems lack spatial specificity and probabilistic calibration.
MINDMELD decouples static terrain susceptibility S(x) from dynamic hydro-geotechnical triggers T(x,t) via a two-tier XGBoost stacking architecture with a meta-calibrator fusion engine, producing calibrated P_fused mapped to 4 NDMA operational alert tiers.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000" y="2401200"/>
            <a:ext cx="1189800" cy="3312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8000" y="2415600"/>
            <a:ext cx="11898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Bounding Box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" y="2527200"/>
            <a:ext cx="11898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20N-30N
88E-98E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95000" y="2401200"/>
            <a:ext cx="1189800" cy="3312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95000" y="2415600"/>
            <a:ext cx="11898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8 NE States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5000" y="2527200"/>
            <a:ext cx="11898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Assam+7 states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2000" y="2401200"/>
            <a:ext cx="1189800" cy="3312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2000" y="2415600"/>
            <a:ext cx="11898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Dataset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2000" y="2527200"/>
            <a:ext cx="11898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1152 events
2007-2019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9000" y="2401200"/>
            <a:ext cx="1189800" cy="3312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9000" y="2415600"/>
            <a:ext cx="11898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IoT Nodes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89000" y="2527200"/>
            <a:ext cx="11898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40-node grid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000" y="2761200"/>
            <a:ext cx="4824000" cy="10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8000" y="2797200"/>
            <a:ext cx="4824000" cy="198000"/>
          </a:xfrm>
          <a:prstGeom prst="rect">
            <a:avLst/>
          </a:prstGeom>
          <a:solidFill>
            <a:srgbClr val="0E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4000" y="2808000"/>
            <a:ext cx="4752000" cy="1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Two-Tier XGBoost Stacking Architecture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000" y="3006000"/>
            <a:ext cx="4824000" cy="43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8000" y="3006000"/>
            <a:ext cx="79200" cy="43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8800" y="3020400"/>
            <a:ext cx="46944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 i="0">
                <a:solidFill>
                  <a:srgbClr val="0284C7"/>
                </a:solidFill>
              </a:rPr>
              <a:t>TIER 1 - Static Susceptibility  S(x)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8800" y="3132000"/>
            <a:ext cx="46944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CBD5E1"/>
                </a:solidFill>
              </a:rPr>
              <a:t>Inputs: slope, elevation, aspect_sin, aspect_cos, curvature, dist_to_road_km
XGBoost: n_est=180, max_depth=6, eta=0.30, lambda=1.0, seed=42
Output: P_susc in [0,1]   |   Logit: zeta_1 = ln[P/(1-P)]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88400" y="3438000"/>
            <a:ext cx="43200" cy="6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8000" y="3517200"/>
            <a:ext cx="4824000" cy="43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8000" y="3517200"/>
            <a:ext cx="79200" cy="432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8800" y="3531600"/>
            <a:ext cx="46944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 i="0">
                <a:solidFill>
                  <a:srgbClr val="0D9488"/>
                </a:solidFill>
              </a:rPr>
              <a:t>TIER 2 - Dynamic Trigger  T(x,t)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8800" y="3643200"/>
            <a:ext cx="46944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CBD5E1"/>
                </a:solidFill>
              </a:rPr>
              <a:t>Inputs: rain_24h, rain_48h_prior, rain_72h, rain_7d, API_7d,
        r24_seasonal_anom, api_seasonal_anom
XGBoost: n_est=100, max_depth=6, eta=0.30, base_score=0.26
Output: P_trig in [0,1]   |   Logit: zeta_2 = ln[P/(1-P)]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88400" y="3949200"/>
            <a:ext cx="43200" cy="6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8000" y="4028400"/>
            <a:ext cx="4824000" cy="43200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8000" y="4028400"/>
            <a:ext cx="79200" cy="432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8800" y="4042800"/>
            <a:ext cx="4694400" cy="11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 i="0">
                <a:solidFill>
                  <a:srgbClr val="7C3AED"/>
                </a:solidFill>
              </a:rPr>
              <a:t>META-CALIBRATOR - LR Fusion Engine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8800" y="4154400"/>
            <a:ext cx="4694400" cy="295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CBD5E1"/>
                </a:solidFill>
              </a:rPr>
              <a:t>Z = [zeta_1, zeta_2]^T   |   LR: L2 penalty, C=1.0, lbfgs
P_fused = sigma(w0 + w1*zeta_1 + w2*zeta_2)   |   Threshold theta=0.35
R_k = f(P_fused) -&gt; NDMA {GREEN | YELLOW | ORANGE | RED}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8000" y="4557600"/>
            <a:ext cx="4824000" cy="198000"/>
          </a:xfrm>
          <a:prstGeom prst="rect">
            <a:avLst/>
          </a:prstGeom>
          <a:solidFill>
            <a:srgbClr val="143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4000" y="4568400"/>
            <a:ext cx="4752000" cy="1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Geotechnical Physics - Infinite Slope Factor of Safety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8000" y="4766400"/>
            <a:ext cx="4824000" cy="244800"/>
          </a:xfrm>
          <a:prstGeom prst="rect">
            <a:avLst/>
          </a:prstGeom>
          <a:solidFill>
            <a:srgbClr val="1E293B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6800" y="4773600"/>
            <a:ext cx="47664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" b="1" i="0">
                <a:solidFill>
                  <a:srgbClr val="0D9488"/>
                </a:solidFill>
              </a:rPr>
              <a:t>Terzaghi Effective Stress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6800" y="4863600"/>
            <a:ext cx="4766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1">
                <a:solidFill>
                  <a:srgbClr val="CBD5E1"/>
                </a:solidFill>
              </a:rPr>
              <a:t>sigma_prime = (gamma_s*z - gamma_w*h_w)*cos^2(beta)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8000" y="5018400"/>
            <a:ext cx="4824000" cy="244800"/>
          </a:xfrm>
          <a:prstGeom prst="rect">
            <a:avLst/>
          </a:prstGeom>
          <a:solidFill>
            <a:srgbClr val="162336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6800" y="5025600"/>
            <a:ext cx="47664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" b="1" i="0">
                <a:solidFill>
                  <a:srgbClr val="0D9488"/>
                </a:solidFill>
              </a:rPr>
              <a:t>Mohr-Coulomb Shear Strength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26800" y="5115600"/>
            <a:ext cx="4766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1">
                <a:solidFill>
                  <a:srgbClr val="CBD5E1"/>
                </a:solidFill>
              </a:rPr>
              <a:t>tau_f = c_prime + sigma_prime * tan(phi_prime)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8000" y="5270400"/>
            <a:ext cx="4824000" cy="244800"/>
          </a:xfrm>
          <a:prstGeom prst="rect">
            <a:avLst/>
          </a:prstGeom>
          <a:solidFill>
            <a:srgbClr val="1E293B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6800" y="5277600"/>
            <a:ext cx="47664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" b="1" i="0">
                <a:solidFill>
                  <a:srgbClr val="0D9488"/>
                </a:solidFill>
              </a:rPr>
              <a:t>Infinite Slope FS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6800" y="5367600"/>
            <a:ext cx="4766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1">
                <a:solidFill>
                  <a:srgbClr val="CBD5E1"/>
                </a:solidFill>
              </a:rPr>
              <a:t>FS = [c_prime + (gamma_s*z - gamma_w*h_w)*cos^2(beta)*tan(phi_prime)] / [gamma_s*z*sin(beta)*cos(beta)]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8000" y="5522400"/>
            <a:ext cx="4824000" cy="244800"/>
          </a:xfrm>
          <a:prstGeom prst="rect">
            <a:avLst/>
          </a:prstGeom>
          <a:solidFill>
            <a:srgbClr val="162336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6800" y="5529600"/>
            <a:ext cx="47664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" b="1" i="0">
                <a:solidFill>
                  <a:srgbClr val="0D9488"/>
                </a:solidFill>
              </a:rPr>
              <a:t>Critical Rainfall Depth h_w*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6800" y="5619600"/>
            <a:ext cx="4766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1">
                <a:solidFill>
                  <a:srgbClr val="CBD5E1"/>
                </a:solidFill>
              </a:rPr>
              <a:t>h_w* = z - [c_prime/(gamma_w*cos^2(beta)*tan(phi_prime))] + [z*tan(beta)/tan(phi_prime)]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8000" y="5774400"/>
            <a:ext cx="4824000" cy="244800"/>
          </a:xfrm>
          <a:prstGeom prst="rect">
            <a:avLst/>
          </a:prstGeom>
          <a:solidFill>
            <a:srgbClr val="1E293B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6800" y="5781600"/>
            <a:ext cx="47664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" b="1" i="0">
                <a:solidFill>
                  <a:srgbClr val="0D9488"/>
                </a:solidFill>
              </a:rPr>
              <a:t>Richards PDE (Transient Seepage)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6800" y="5871600"/>
            <a:ext cx="4766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1">
                <a:solidFill>
                  <a:srgbClr val="CBD5E1"/>
                </a:solidFill>
              </a:rPr>
              <a:t>d(theta)/dt = d/dz[K(h)*(dh/dz + 1)] - S(z,t)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8000" y="6026400"/>
            <a:ext cx="4824000" cy="244800"/>
          </a:xfrm>
          <a:prstGeom prst="rect">
            <a:avLst/>
          </a:prstGeom>
          <a:solidFill>
            <a:srgbClr val="162336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26800" y="6033600"/>
            <a:ext cx="47664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" b="1" i="0">
                <a:solidFill>
                  <a:srgbClr val="0D9488"/>
                </a:solidFill>
              </a:rPr>
              <a:t>Antecedent Precip Index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6800" y="6123600"/>
            <a:ext cx="4766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1">
                <a:solidFill>
                  <a:srgbClr val="CBD5E1"/>
                </a:solidFill>
              </a:rPr>
              <a:t>API_t = SUM[k=0..n] P_(t-k) * exp(-k/tau)   [tau=7-day decay]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8000" y="6278400"/>
            <a:ext cx="4824000" cy="244800"/>
          </a:xfrm>
          <a:prstGeom prst="rect">
            <a:avLst/>
          </a:prstGeom>
          <a:solidFill>
            <a:srgbClr val="1E293B"/>
          </a:solidFill>
          <a:ln w="381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6800" y="6285600"/>
            <a:ext cx="47664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" b="1" i="0">
                <a:solidFill>
                  <a:srgbClr val="0D9488"/>
                </a:solidFill>
              </a:rPr>
              <a:t>Seasonal Anomaly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6800" y="6375600"/>
            <a:ext cx="47664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1">
                <a:solidFill>
                  <a:srgbClr val="CBD5E1"/>
                </a:solidFill>
              </a:rPr>
              <a:t>Anom_t = (P_t - mu_clim(doy)) / sigma_clim(doy)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8000" y="6584400"/>
            <a:ext cx="4824000" cy="180000"/>
          </a:xfrm>
          <a:prstGeom prst="rect">
            <a:avLst/>
          </a:prstGeom>
          <a:solidFill>
            <a:srgbClr val="1A1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4000" y="6595200"/>
            <a:ext cx="475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TreeSHAP Global Dynamic Feature Attribution</a:t>
            </a:r>
          </a:p>
        </p:txBody>
      </p:sp>
      <p:pic>
        <p:nvPicPr>
          <p:cNvPr id="74" name="Picture 73" descr="05_global_shap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00" y="6775200"/>
            <a:ext cx="4824000" cy="1260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98000" y="8046000"/>
            <a:ext cx="482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6. Global TreeSHAP - rain_48h_prior dominates (34.70%)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98000" y="8161200"/>
            <a:ext cx="4824000" cy="180000"/>
          </a:xfrm>
          <a:prstGeom prst="rect">
            <a:avLst/>
          </a:prstGeom>
          <a:solidFill>
            <a:srgbClr val="2D1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4000" y="8172000"/>
            <a:ext cx="475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Calibrated Risk to NDMA Alert Tier Mapping</a:t>
            </a:r>
          </a:p>
        </p:txBody>
      </p:sp>
      <p:pic>
        <p:nvPicPr>
          <p:cNvPr id="78" name="Picture 77" descr="08_calibrated_risk_mapp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0" y="8352000"/>
            <a:ext cx="4824000" cy="12600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98000" y="9622800"/>
            <a:ext cx="482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7. P_fused -&gt; R_k (1-10) -&gt; NDMA {Green|Yellow|Orange|Red}  theta=0.35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98000" y="9738000"/>
            <a:ext cx="4824000" cy="180000"/>
          </a:xfrm>
          <a:prstGeom prst="rect">
            <a:avLst/>
          </a:prstGeom>
          <a:solidFill>
            <a:srgbClr val="1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4000" y="9748800"/>
            <a:ext cx="4752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Hydro-Geotechnical Feature Correlation Matrix</a:t>
            </a:r>
          </a:p>
        </p:txBody>
      </p:sp>
      <p:pic>
        <p:nvPicPr>
          <p:cNvPr id="82" name="Picture 81" descr="07_feature_correlat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9928800"/>
            <a:ext cx="4824000" cy="1260000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98000" y="11199600"/>
            <a:ext cx="482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8. Pearson Correlation - Static + Dynamic Feature Matrix (13 vars)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148000" y="1422000"/>
            <a:ext cx="4824000" cy="2160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184000" y="1432800"/>
            <a:ext cx="47520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Performance Metrics Dashboard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84000" y="1558800"/>
            <a:ext cx="47520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BD5E1"/>
                </a:solidFill>
              </a:rPr>
              <a:t>Holdout Test  |  Spatial Block OOF  |  LOYO Temporal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48000" y="1656000"/>
            <a:ext cx="4824000" cy="100800"/>
          </a:xfrm>
          <a:prstGeom prst="rect">
            <a:avLst/>
          </a:prstGeom>
          <a:solidFill>
            <a:srgbClr val="1E293B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76800" y="1663200"/>
            <a:ext cx="4824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 i="0">
                <a:solidFill>
                  <a:srgbClr val="F59E0B"/>
                </a:solidFill>
              </a:rPr>
              <a:t>Test Partition  (N=52)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148000" y="17640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148000" y="17784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48000" y="18900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94.23%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940600" y="17640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40600" y="17784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Precision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940600" y="18900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85.71%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733200" y="17640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33200" y="17784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POD/Recall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33200" y="18900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</a:rPr>
              <a:t>92.31%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525800" y="17640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525800" y="17784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ROC-AUC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525800" y="18900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0.9803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318400" y="17640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18400" y="17784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PR-AUC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18400" y="18900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0.9208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11000" y="17640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11000" y="17784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Brier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111000" y="18900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0.0410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148000" y="2095200"/>
            <a:ext cx="4824000" cy="100800"/>
          </a:xfrm>
          <a:prstGeom prst="rect">
            <a:avLst/>
          </a:prstGeom>
          <a:solidFill>
            <a:srgbClr val="0C253A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76800" y="2102400"/>
            <a:ext cx="4824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 i="0">
                <a:solidFill>
                  <a:srgbClr val="F59E0B"/>
                </a:solidFill>
              </a:rPr>
              <a:t>Spatial Block OOF  (N=346)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148000" y="2203200"/>
            <a:ext cx="789000" cy="316800"/>
          </a:xfrm>
          <a:prstGeom prst="rect">
            <a:avLst/>
          </a:prstGeom>
          <a:solidFill>
            <a:srgbClr val="0C253A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148000" y="22176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148000" y="23292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85.84%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940600" y="2203200"/>
            <a:ext cx="789000" cy="316800"/>
          </a:xfrm>
          <a:prstGeom prst="rect">
            <a:avLst/>
          </a:prstGeom>
          <a:solidFill>
            <a:srgbClr val="0C253A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0600" y="22176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Precision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940600" y="23292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75.95%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733200" y="2203200"/>
            <a:ext cx="789000" cy="316800"/>
          </a:xfrm>
          <a:prstGeom prst="rect">
            <a:avLst/>
          </a:prstGeom>
          <a:solidFill>
            <a:srgbClr val="0C253A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733200" y="22176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POD/Recall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733200" y="23292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</a:rPr>
              <a:t>66.67%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525800" y="2203200"/>
            <a:ext cx="789000" cy="316800"/>
          </a:xfrm>
          <a:prstGeom prst="rect">
            <a:avLst/>
          </a:prstGeom>
          <a:solidFill>
            <a:srgbClr val="0C253A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525800" y="22176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ROC-AUC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525800" y="23292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0.8816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318400" y="2203200"/>
            <a:ext cx="789000" cy="316800"/>
          </a:xfrm>
          <a:prstGeom prst="rect">
            <a:avLst/>
          </a:prstGeom>
          <a:solidFill>
            <a:srgbClr val="0C253A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18400" y="22176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PR-AUC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18400" y="23292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0.8177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111000" y="2203200"/>
            <a:ext cx="789000" cy="316800"/>
          </a:xfrm>
          <a:prstGeom prst="rect">
            <a:avLst/>
          </a:prstGeom>
          <a:solidFill>
            <a:srgbClr val="0C253A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11000" y="22176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Brier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9111000" y="23292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0.0991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148000" y="2534400"/>
            <a:ext cx="4824000" cy="100800"/>
          </a:xfrm>
          <a:prstGeom prst="rect">
            <a:avLst/>
          </a:prstGeom>
          <a:solidFill>
            <a:srgbClr val="1E293B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176800" y="2541600"/>
            <a:ext cx="4824000" cy="9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80" b="1" i="0">
                <a:solidFill>
                  <a:srgbClr val="F59E0B"/>
                </a:solidFill>
              </a:rPr>
              <a:t>LOYO Temporal  (N=346, 2007-2019)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48000" y="26424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148000" y="26568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Accuracy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48000" y="27684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2C55E"/>
                </a:solidFill>
              </a:rPr>
              <a:t>71.10%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940600" y="26424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940600" y="26568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Precision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940600" y="27684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4C7"/>
                </a:solidFill>
              </a:rPr>
              <a:t>41.67%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733200" y="26424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733200" y="26568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POD/Recall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733200" y="27684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9488"/>
                </a:solidFill>
              </a:rPr>
              <a:t>27.78%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525800" y="26424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525800" y="26568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ROC-AUC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525800" y="27684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C3AED"/>
                </a:solidFill>
              </a:rPr>
              <a:t>0.5925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318400" y="26424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318400" y="26568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PR-AUC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8318400" y="27684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0.3870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111000" y="2642400"/>
            <a:ext cx="789000" cy="316800"/>
          </a:xfrm>
          <a:prstGeom prst="rect">
            <a:avLst/>
          </a:prstGeom>
          <a:solidFill>
            <a:srgbClr val="1E293B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111000" y="2656800"/>
            <a:ext cx="789000" cy="1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0">
                <a:solidFill>
                  <a:srgbClr val="94A3B8"/>
                </a:solidFill>
              </a:rPr>
              <a:t>Brier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9111000" y="2768400"/>
            <a:ext cx="789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</a:rPr>
              <a:t>0.2176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5148000" y="3002400"/>
            <a:ext cx="4824000" cy="187200"/>
          </a:xfrm>
          <a:prstGeom prst="rect">
            <a:avLst/>
          </a:prstGeom>
          <a:solidFill>
            <a:srgbClr val="0E2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184000" y="3013200"/>
            <a:ext cx="4752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Confusion Matrix - Test Partition (theta=0.35, N=52)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6777000" y="3200400"/>
            <a:ext cx="522000" cy="180000"/>
          </a:xfrm>
          <a:prstGeom prst="rect">
            <a:avLst/>
          </a:prstGeom>
          <a:solidFill>
            <a:srgbClr val="0E3A5C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777000" y="320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F59E0B"/>
                </a:solidFill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7299000" y="3200400"/>
            <a:ext cx="522000" cy="180000"/>
          </a:xfrm>
          <a:prstGeom prst="rect">
            <a:avLst/>
          </a:prstGeom>
          <a:solidFill>
            <a:srgbClr val="1E293B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299000" y="320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Pred 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821000" y="3200400"/>
            <a:ext cx="522000" cy="180000"/>
          </a:xfrm>
          <a:prstGeom prst="rect">
            <a:avLst/>
          </a:prstGeom>
          <a:solidFill>
            <a:srgbClr val="1E293B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821000" y="320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Pred 1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777000" y="3380400"/>
            <a:ext cx="522000" cy="180000"/>
          </a:xfrm>
          <a:prstGeom prst="rect">
            <a:avLst/>
          </a:prstGeom>
          <a:solidFill>
            <a:srgbClr val="1E293B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777000" y="338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Act 0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299000" y="3380400"/>
            <a:ext cx="522000" cy="180000"/>
          </a:xfrm>
          <a:prstGeom prst="rect">
            <a:avLst/>
          </a:prstGeom>
          <a:solidFill>
            <a:srgbClr val="14532D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299000" y="338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C55E"/>
                </a:solidFill>
              </a:rPr>
              <a:t>37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821000" y="3380400"/>
            <a:ext cx="522000" cy="180000"/>
          </a:xfrm>
          <a:prstGeom prst="rect">
            <a:avLst/>
          </a:prstGeom>
          <a:solidFill>
            <a:srgbClr val="7F1D1D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821000" y="338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4444"/>
                </a:solidFill>
              </a:rPr>
              <a:t>2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777000" y="3560400"/>
            <a:ext cx="522000" cy="180000"/>
          </a:xfrm>
          <a:prstGeom prst="rect">
            <a:avLst/>
          </a:prstGeom>
          <a:solidFill>
            <a:srgbClr val="1E293B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77000" y="356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CBD5E1"/>
                </a:solidFill>
              </a:rPr>
              <a:t>Act 1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7299000" y="3560400"/>
            <a:ext cx="522000" cy="180000"/>
          </a:xfrm>
          <a:prstGeom prst="rect">
            <a:avLst/>
          </a:prstGeom>
          <a:solidFill>
            <a:srgbClr val="7F1D1D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7299000" y="356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F4444"/>
                </a:solidFill>
              </a:rPr>
              <a:t>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821000" y="3560400"/>
            <a:ext cx="522000" cy="180000"/>
          </a:xfrm>
          <a:prstGeom prst="rect">
            <a:avLst/>
          </a:prstGeom>
          <a:solidFill>
            <a:srgbClr val="14532D"/>
          </a:solidFill>
          <a:ln w="508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821000" y="3560400"/>
            <a:ext cx="522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C55E"/>
                </a:solidFill>
              </a:rPr>
              <a:t>12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148000" y="3783600"/>
            <a:ext cx="1181700" cy="129600"/>
          </a:xfrm>
          <a:prstGeom prst="rect">
            <a:avLst/>
          </a:prstGeom>
          <a:solidFill>
            <a:srgbClr val="1E293B"/>
          </a:solidFill>
          <a:ln w="889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148000" y="3783600"/>
            <a:ext cx="11817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2C55E"/>
                </a:solidFill>
              </a:rPr>
              <a:t>TP=12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6340500" y="3783600"/>
            <a:ext cx="1181700" cy="129600"/>
          </a:xfrm>
          <a:prstGeom prst="rect">
            <a:avLst/>
          </a:prstGeom>
          <a:solidFill>
            <a:srgbClr val="1E293B"/>
          </a:solidFill>
          <a:ln w="889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340500" y="3783600"/>
            <a:ext cx="11817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D9488"/>
                </a:solidFill>
              </a:rPr>
              <a:t>TN=37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533000" y="3783600"/>
            <a:ext cx="1181700" cy="129600"/>
          </a:xfrm>
          <a:prstGeom prst="rect">
            <a:avLst/>
          </a:prstGeom>
          <a:solidFill>
            <a:srgbClr val="1E293B"/>
          </a:solidFill>
          <a:ln w="889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533000" y="3783600"/>
            <a:ext cx="11817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F4444"/>
                </a:solidFill>
              </a:rPr>
              <a:t>FP=2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725500" y="3783600"/>
            <a:ext cx="1181700" cy="129600"/>
          </a:xfrm>
          <a:prstGeom prst="rect">
            <a:avLst/>
          </a:prstGeom>
          <a:solidFill>
            <a:srgbClr val="1E293B"/>
          </a:solidFill>
          <a:ln w="889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725500" y="3783600"/>
            <a:ext cx="1181700" cy="12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9E0B"/>
                </a:solidFill>
              </a:rPr>
              <a:t>FN=1</a:t>
            </a:r>
          </a:p>
        </p:txBody>
      </p:sp>
      <p:pic>
        <p:nvPicPr>
          <p:cNvPr id="175" name="Picture 174" descr="01_confus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00" y="3963600"/>
            <a:ext cx="4824000" cy="1512000"/>
          </a:xfrm>
          <a:prstGeom prst="rect">
            <a:avLst/>
          </a:prstGeom>
        </p:spPr>
      </p:pic>
      <p:sp>
        <p:nvSpPr>
          <p:cNvPr id="176" name="TextBox 175"/>
          <p:cNvSpPr txBox="1"/>
          <p:nvPr/>
        </p:nvSpPr>
        <p:spPr>
          <a:xfrm>
            <a:off x="5148000" y="5486400"/>
            <a:ext cx="482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1. Confusion Matrix Heatmap (Test N=52, theta=0.35)</a:t>
            </a:r>
          </a:p>
        </p:txBody>
      </p:sp>
      <p:pic>
        <p:nvPicPr>
          <p:cNvPr id="177" name="Picture 176" descr="02_roc_cur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00" y="5601600"/>
            <a:ext cx="4824000" cy="1512000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5148000" y="7124400"/>
            <a:ext cx="482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2. ROC Curve (AUC=0.9803) - Two-Tier Calibrated Model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098000" y="1422000"/>
            <a:ext cx="4824000" cy="216000"/>
          </a:xfrm>
          <a:prstGeom prst="rect">
            <a:avLst/>
          </a:prstGeom>
          <a:solidFill>
            <a:srgbClr val="1A1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134000" y="1432800"/>
            <a:ext cx="4752000" cy="19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Global TreeSHAP Dynamic Feature Attribution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0134000" y="1558800"/>
            <a:ext cx="4752000" cy="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CBD5E1"/>
                </a:solidFill>
              </a:rPr>
              <a:t>Trigger Model - Mean |SHAP Value| ranking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0098000" y="1656000"/>
            <a:ext cx="1008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BD5E1"/>
                </a:solidFill>
              </a:rPr>
              <a:t>rain_48h_prior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1124000" y="1674000"/>
            <a:ext cx="3744000" cy="122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4886000" y="1656000"/>
            <a:ext cx="5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59E0B"/>
                </a:solidFill>
              </a:rPr>
              <a:t>1.8878 (34.7%)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10098000" y="1839600"/>
            <a:ext cx="1008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BD5E1"/>
                </a:solidFill>
              </a:rPr>
              <a:t>r24_seasonal_anom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124000" y="1857600"/>
            <a:ext cx="1741501" cy="122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2883501" y="1839600"/>
            <a:ext cx="5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59E0B"/>
                </a:solidFill>
              </a:rPr>
              <a:t>0.8781 (16.1%)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098000" y="2023200"/>
            <a:ext cx="1008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BD5E1"/>
                </a:solidFill>
              </a:rPr>
              <a:t>rain_24h_obs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1124000" y="2041200"/>
            <a:ext cx="1409106" cy="122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12551106" y="2023200"/>
            <a:ext cx="5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59E0B"/>
                </a:solidFill>
              </a:rPr>
              <a:t>0.7105 (13.1%)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0098000" y="2206800"/>
            <a:ext cx="1008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BD5E1"/>
                </a:solidFill>
              </a:rPr>
              <a:t>rain_7d_prior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1124000" y="2224800"/>
            <a:ext cx="1294672" cy="122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2436672" y="2206800"/>
            <a:ext cx="5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59E0B"/>
                </a:solidFill>
              </a:rPr>
              <a:t>0.6528 (12.0%)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098000" y="2390400"/>
            <a:ext cx="1008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BD5E1"/>
                </a:solidFill>
              </a:rPr>
              <a:t>api_seasonal_anom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11124000" y="2408400"/>
            <a:ext cx="1144936" cy="122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2286936" y="2390400"/>
            <a:ext cx="5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59E0B"/>
                </a:solidFill>
              </a:rPr>
              <a:t>0.5773 (10.6%)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098000" y="2574000"/>
            <a:ext cx="1008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BD5E1"/>
                </a:solidFill>
              </a:rPr>
              <a:t>rain_72h_prior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124000" y="2592000"/>
            <a:ext cx="974376" cy="122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12116376" y="2574000"/>
            <a:ext cx="5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59E0B"/>
                </a:solidFill>
              </a:rPr>
              <a:t>0.4913 (9.0%)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0098000" y="2757600"/>
            <a:ext cx="1008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0">
                <a:solidFill>
                  <a:srgbClr val="CBD5E1"/>
                </a:solidFill>
              </a:rPr>
              <a:t>api_7d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124000" y="2775600"/>
            <a:ext cx="479750" cy="1224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1621750" y="2757600"/>
            <a:ext cx="5400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F59E0B"/>
                </a:solidFill>
              </a:rPr>
              <a:t>0.2419 (4.5%)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098000" y="3013200"/>
            <a:ext cx="4824000" cy="187200"/>
          </a:xfrm>
          <a:prstGeom prst="rect">
            <a:avLst/>
          </a:prstGeom>
          <a:solidFill>
            <a:srgbClr val="1A1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134000" y="3024000"/>
            <a:ext cx="4752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Precision-Recall &amp; Calibration Reliability Curves</a:t>
            </a:r>
          </a:p>
        </p:txBody>
      </p:sp>
      <p:pic>
        <p:nvPicPr>
          <p:cNvPr id="205" name="Picture 204" descr="03_precision_recall_curv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98000" y="3211200"/>
            <a:ext cx="2385000" cy="1332000"/>
          </a:xfrm>
          <a:prstGeom prst="rect">
            <a:avLst/>
          </a:prstGeom>
        </p:spPr>
      </p:pic>
      <p:pic>
        <p:nvPicPr>
          <p:cNvPr id="206" name="Picture 205" descr="04_calibration_reliability_curv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37000" y="3211200"/>
            <a:ext cx="2385000" cy="1332000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10098000" y="4554000"/>
            <a:ext cx="2385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3. PR Curve (AUC=0.9208)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2537000" y="4554000"/>
            <a:ext cx="2385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4. Reliability (Brier=0.0410)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0098000" y="4680000"/>
            <a:ext cx="4824000" cy="198000"/>
          </a:xfrm>
          <a:prstGeom prst="rect">
            <a:avLst/>
          </a:prstGeom>
          <a:solidFill>
            <a:srgbClr val="0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0134000" y="4690800"/>
            <a:ext cx="4752000" cy="17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Leave-One-Year-Out Temporal Validation (2007-2019)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10098000" y="4888800"/>
            <a:ext cx="288000" cy="144000"/>
          </a:xfrm>
          <a:prstGeom prst="rect">
            <a:avLst/>
          </a:prstGeom>
          <a:solidFill>
            <a:srgbClr val="0284C7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098000" y="4888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Year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0386000" y="4888800"/>
            <a:ext cx="216000" cy="144000"/>
          </a:xfrm>
          <a:prstGeom prst="rect">
            <a:avLst/>
          </a:prstGeom>
          <a:solidFill>
            <a:srgbClr val="0284C7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0386000" y="4888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10602000" y="4888800"/>
            <a:ext cx="864000" cy="144000"/>
          </a:xfrm>
          <a:prstGeom prst="rect">
            <a:avLst/>
          </a:prstGeom>
          <a:solidFill>
            <a:srgbClr val="0284C7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602000" y="488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Acc%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1466000" y="4888800"/>
            <a:ext cx="864000" cy="144000"/>
          </a:xfrm>
          <a:prstGeom prst="rect">
            <a:avLst/>
          </a:prstGeom>
          <a:solidFill>
            <a:srgbClr val="0284C7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1466000" y="488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Prec%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2330000" y="4888800"/>
            <a:ext cx="864000" cy="144000"/>
          </a:xfrm>
          <a:prstGeom prst="rect">
            <a:avLst/>
          </a:prstGeom>
          <a:solidFill>
            <a:srgbClr val="0284C7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2330000" y="488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POD%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3194000" y="4888800"/>
            <a:ext cx="864000" cy="144000"/>
          </a:xfrm>
          <a:prstGeom prst="rect">
            <a:avLst/>
          </a:prstGeom>
          <a:solidFill>
            <a:srgbClr val="0284C7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3194000" y="488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FAR%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14058000" y="4888800"/>
            <a:ext cx="864000" cy="144000"/>
          </a:xfrm>
          <a:prstGeom prst="rect">
            <a:avLst/>
          </a:prstGeom>
          <a:solidFill>
            <a:srgbClr val="0284C7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4058000" y="488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AUC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0098000" y="5032800"/>
            <a:ext cx="288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0098000" y="5032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2007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10386000" y="5032800"/>
            <a:ext cx="216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0386000" y="5032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12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10602000" y="5032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10602000" y="503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66.67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11466000" y="5032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11466000" y="503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2330000" y="5032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2330000" y="503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3194000" y="5032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3194000" y="503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100.0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4058000" y="5032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4058000" y="503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0.222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10098000" y="5176800"/>
            <a:ext cx="288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10098000" y="5176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2013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10386000" y="5176800"/>
            <a:ext cx="216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386000" y="5176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4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0602000" y="5176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0602000" y="517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75.00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11466000" y="5176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1466000" y="517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12330000" y="5176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12330000" y="517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13194000" y="5176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13194000" y="517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14058000" y="5176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14058000" y="517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1.000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0098000" y="5320800"/>
            <a:ext cx="288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0098000" y="5320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2014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10386000" y="5320800"/>
            <a:ext cx="216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10386000" y="5320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21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10602000" y="5320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10602000" y="5320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52.38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1466000" y="5320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1466000" y="5320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12330000" y="5320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12330000" y="5320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13194000" y="5320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3194000" y="5320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100.0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14058000" y="5320800"/>
            <a:ext cx="864000" cy="144000"/>
          </a:xfrm>
          <a:prstGeom prst="rect">
            <a:avLst/>
          </a:prstGeom>
          <a:solidFill>
            <a:srgbClr val="162336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4058000" y="5320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0.378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10098000" y="5464800"/>
            <a:ext cx="288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0098000" y="5464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2016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10386000" y="5464800"/>
            <a:ext cx="216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0386000" y="5464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20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10602000" y="5464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0602000" y="5464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75.00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11466000" y="5464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1466000" y="5464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12330000" y="5464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12330000" y="5464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13194000" y="5464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3194000" y="5464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0.00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14058000" y="5464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14058000" y="5464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0.400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10098000" y="5608800"/>
            <a:ext cx="288000" cy="144000"/>
          </a:xfrm>
          <a:prstGeom prst="rect">
            <a:avLst/>
          </a:prstGeom>
          <a:solidFill>
            <a:srgbClr val="1C1C00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098000" y="5608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59E0B"/>
                </a:solidFill>
              </a:rPr>
              <a:t>2018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10386000" y="5608800"/>
            <a:ext cx="216000" cy="144000"/>
          </a:xfrm>
          <a:prstGeom prst="rect">
            <a:avLst/>
          </a:prstGeom>
          <a:solidFill>
            <a:srgbClr val="1C1C00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0386000" y="5608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59E0B"/>
                </a:solidFill>
              </a:rPr>
              <a:t>277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10602000" y="5608800"/>
            <a:ext cx="864000" cy="144000"/>
          </a:xfrm>
          <a:prstGeom prst="rect">
            <a:avLst/>
          </a:prstGeom>
          <a:solidFill>
            <a:srgbClr val="1C1C00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10602000" y="560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59E0B"/>
                </a:solidFill>
              </a:rPr>
              <a:t>64.62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1466000" y="5608800"/>
            <a:ext cx="864000" cy="144000"/>
          </a:xfrm>
          <a:prstGeom prst="rect">
            <a:avLst/>
          </a:prstGeom>
          <a:solidFill>
            <a:srgbClr val="1C1C00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1466000" y="560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59E0B"/>
                </a:solidFill>
              </a:rPr>
              <a:t>23.53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12330000" y="5608800"/>
            <a:ext cx="864000" cy="144000"/>
          </a:xfrm>
          <a:prstGeom prst="rect">
            <a:avLst/>
          </a:prstGeom>
          <a:solidFill>
            <a:srgbClr val="1C1C00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12330000" y="560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59E0B"/>
                </a:solidFill>
              </a:rPr>
              <a:t>16.90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3194000" y="5608800"/>
            <a:ext cx="864000" cy="144000"/>
          </a:xfrm>
          <a:prstGeom prst="rect">
            <a:avLst/>
          </a:prstGeom>
          <a:solidFill>
            <a:srgbClr val="1C1C00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3194000" y="560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59E0B"/>
                </a:solidFill>
              </a:rPr>
              <a:t>76.47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14058000" y="5608800"/>
            <a:ext cx="864000" cy="144000"/>
          </a:xfrm>
          <a:prstGeom prst="rect">
            <a:avLst/>
          </a:prstGeom>
          <a:solidFill>
            <a:srgbClr val="1C1C00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14058000" y="5608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F59E0B"/>
                </a:solidFill>
              </a:rPr>
              <a:t>0.564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0098000" y="5752800"/>
            <a:ext cx="288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0098000" y="5752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2019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10386000" y="5752800"/>
            <a:ext cx="216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10386000" y="5752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12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10602000" y="5752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10602000" y="575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66.67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11466000" y="5752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11466000" y="575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33.33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12330000" y="5752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12330000" y="575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33.33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13194000" y="5752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TextBox 305"/>
          <p:cNvSpPr txBox="1"/>
          <p:nvPr/>
        </p:nvSpPr>
        <p:spPr>
          <a:xfrm>
            <a:off x="13194000" y="575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66.67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14058000" y="5752800"/>
            <a:ext cx="864000" cy="144000"/>
          </a:xfrm>
          <a:prstGeom prst="rect">
            <a:avLst/>
          </a:prstGeom>
          <a:solidFill>
            <a:srgbClr val="1E293B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4058000" y="5752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CBD5E1"/>
                </a:solidFill>
              </a:rPr>
              <a:t>0.296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10098000" y="5896800"/>
            <a:ext cx="288000" cy="144000"/>
          </a:xfrm>
          <a:prstGeom prst="rect">
            <a:avLst/>
          </a:prstGeom>
          <a:solidFill>
            <a:srgbClr val="0E3A5C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extBox 309"/>
          <p:cNvSpPr txBox="1"/>
          <p:nvPr/>
        </p:nvSpPr>
        <p:spPr>
          <a:xfrm>
            <a:off x="10098000" y="5896800"/>
            <a:ext cx="288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MEAN</a:t>
            </a:r>
          </a:p>
        </p:txBody>
      </p:sp>
      <p:sp>
        <p:nvSpPr>
          <p:cNvPr id="311" name="Rectangle 310"/>
          <p:cNvSpPr/>
          <p:nvPr/>
        </p:nvSpPr>
        <p:spPr>
          <a:xfrm>
            <a:off x="10386000" y="5896800"/>
            <a:ext cx="216000" cy="144000"/>
          </a:xfrm>
          <a:prstGeom prst="rect">
            <a:avLst/>
          </a:prstGeom>
          <a:solidFill>
            <a:srgbClr val="0E3A5C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TextBox 311"/>
          <p:cNvSpPr txBox="1"/>
          <p:nvPr/>
        </p:nvSpPr>
        <p:spPr>
          <a:xfrm>
            <a:off x="10386000" y="5896800"/>
            <a:ext cx="216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346</a:t>
            </a:r>
          </a:p>
        </p:txBody>
      </p:sp>
      <p:sp>
        <p:nvSpPr>
          <p:cNvPr id="313" name="Rectangle 312"/>
          <p:cNvSpPr/>
          <p:nvPr/>
        </p:nvSpPr>
        <p:spPr>
          <a:xfrm>
            <a:off x="10602000" y="5896800"/>
            <a:ext cx="864000" cy="144000"/>
          </a:xfrm>
          <a:prstGeom prst="rect">
            <a:avLst/>
          </a:prstGeom>
          <a:solidFill>
            <a:srgbClr val="0E3A5C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10602000" y="589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71.10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11466000" y="5896800"/>
            <a:ext cx="864000" cy="144000"/>
          </a:xfrm>
          <a:prstGeom prst="rect">
            <a:avLst/>
          </a:prstGeom>
          <a:solidFill>
            <a:srgbClr val="0E3A5C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11466000" y="589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41.67</a:t>
            </a:r>
          </a:p>
        </p:txBody>
      </p:sp>
      <p:sp>
        <p:nvSpPr>
          <p:cNvPr id="317" name="Rectangle 316"/>
          <p:cNvSpPr/>
          <p:nvPr/>
        </p:nvSpPr>
        <p:spPr>
          <a:xfrm>
            <a:off x="12330000" y="5896800"/>
            <a:ext cx="864000" cy="144000"/>
          </a:xfrm>
          <a:prstGeom prst="rect">
            <a:avLst/>
          </a:prstGeom>
          <a:solidFill>
            <a:srgbClr val="0E3A5C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TextBox 317"/>
          <p:cNvSpPr txBox="1"/>
          <p:nvPr/>
        </p:nvSpPr>
        <p:spPr>
          <a:xfrm>
            <a:off x="12330000" y="589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27.78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3194000" y="5896800"/>
            <a:ext cx="864000" cy="144000"/>
          </a:xfrm>
          <a:prstGeom prst="rect">
            <a:avLst/>
          </a:prstGeom>
          <a:solidFill>
            <a:srgbClr val="0E3A5C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13194000" y="589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58.33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14058000" y="5896800"/>
            <a:ext cx="864000" cy="144000"/>
          </a:xfrm>
          <a:prstGeom prst="rect">
            <a:avLst/>
          </a:prstGeom>
          <a:solidFill>
            <a:srgbClr val="0E3A5C"/>
          </a:solidFill>
          <a:ln w="381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14058000" y="5896800"/>
            <a:ext cx="864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59E0B"/>
                </a:solidFill>
              </a:rPr>
              <a:t>0.593</a:t>
            </a:r>
          </a:p>
        </p:txBody>
      </p:sp>
      <p:pic>
        <p:nvPicPr>
          <p:cNvPr id="323" name="Picture 322" descr="06_loyo_temporal_validati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8000" y="6084000"/>
            <a:ext cx="4824000" cy="1260000"/>
          </a:xfrm>
          <a:prstGeom prst="rect">
            <a:avLst/>
          </a:prstGeom>
        </p:spPr>
      </p:pic>
      <p:sp>
        <p:nvSpPr>
          <p:cNvPr id="324" name="TextBox 323"/>
          <p:cNvSpPr txBox="1"/>
          <p:nvPr/>
        </p:nvSpPr>
        <p:spPr>
          <a:xfrm>
            <a:off x="10098000" y="7354800"/>
            <a:ext cx="4824000" cy="10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0" i="1">
                <a:solidFill>
                  <a:srgbClr val="94A3B8"/>
                </a:solidFill>
              </a:rPr>
              <a:t>Fig 5. LOYO Multi-Year Accuracy Bar (Mean=71.10%)</a:t>
            </a:r>
          </a:p>
        </p:txBody>
      </p:sp>
      <p:sp>
        <p:nvSpPr>
          <p:cNvPr id="325" name="Rectangle 324"/>
          <p:cNvSpPr/>
          <p:nvPr/>
        </p:nvSpPr>
        <p:spPr>
          <a:xfrm>
            <a:off x="10098000" y="7470000"/>
            <a:ext cx="4824000" cy="187200"/>
          </a:xfrm>
          <a:prstGeom prst="rect">
            <a:avLst/>
          </a:prstGeom>
          <a:solidFill>
            <a:srgbClr val="1A0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TextBox 325"/>
          <p:cNvSpPr txBox="1"/>
          <p:nvPr/>
        </p:nvSpPr>
        <p:spPr>
          <a:xfrm>
            <a:off x="10134000" y="7480800"/>
            <a:ext cx="4752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Real-Time System Components</a:t>
            </a:r>
          </a:p>
        </p:txBody>
      </p:sp>
      <p:sp>
        <p:nvSpPr>
          <p:cNvPr id="327" name="Rectangle 326"/>
          <p:cNvSpPr/>
          <p:nvPr/>
        </p:nvSpPr>
        <p:spPr>
          <a:xfrm>
            <a:off x="10098000" y="7668000"/>
            <a:ext cx="2390400" cy="378000"/>
          </a:xfrm>
          <a:prstGeom prst="rect">
            <a:avLst/>
          </a:prstGeom>
          <a:solidFill>
            <a:srgbClr val="1E293B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0098000" y="7668000"/>
            <a:ext cx="2390400" cy="79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0098000" y="7671600"/>
            <a:ext cx="23904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Sentinel-1A InSAR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126800" y="7754400"/>
            <a:ext cx="2332800" cy="27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CBD5E1"/>
                </a:solidFill>
              </a:rPr>
              <a:t>C-Band SAR  |  LOS ~1-3 mm
Interferogramme unwrapping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2531600" y="7668000"/>
            <a:ext cx="2390400" cy="378000"/>
          </a:xfrm>
          <a:prstGeom prst="rect">
            <a:avLst/>
          </a:prstGeom>
          <a:solidFill>
            <a:srgbClr val="1E293B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2531600" y="7668000"/>
            <a:ext cx="2390400" cy="79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TextBox 332"/>
          <p:cNvSpPr txBox="1"/>
          <p:nvPr/>
        </p:nvSpPr>
        <p:spPr>
          <a:xfrm>
            <a:off x="12531600" y="7671600"/>
            <a:ext cx="23904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40-Node IoT Grid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2560400" y="7754400"/>
            <a:ext cx="2332800" cy="27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CBD5E1"/>
                </a:solidFill>
              </a:rPr>
              <a:t>Piezometers + MEMS IPI
AsyncIO FastAPI @ 5-min poll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10098000" y="8082000"/>
            <a:ext cx="2390400" cy="378000"/>
          </a:xfrm>
          <a:prstGeom prst="rect">
            <a:avLst/>
          </a:prstGeom>
          <a:solidFill>
            <a:srgbClr val="1E293B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0098000" y="8082000"/>
            <a:ext cx="2390400" cy="79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0098000" y="8085600"/>
            <a:ext cx="23904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Dijkstra EV-Router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0126800" y="8168400"/>
            <a:ext cx="2332800" cy="27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CBD5E1"/>
                </a:solidFill>
              </a:rPr>
              <a:t>NetworkX multigraph G=(V,E,W)
C_risk = 100*P^2 + 10*P + 1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12531600" y="8082000"/>
            <a:ext cx="2390400" cy="378000"/>
          </a:xfrm>
          <a:prstGeom prst="rect">
            <a:avLst/>
          </a:prstGeom>
          <a:solidFill>
            <a:srgbClr val="1E293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2531600" y="8082000"/>
            <a:ext cx="2390400" cy="79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12531600" y="8085600"/>
            <a:ext cx="2390400" cy="7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CAP v1.2 Alerts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2560400" y="8168400"/>
            <a:ext cx="2332800" cy="27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CBD5E1"/>
                </a:solidFill>
              </a:rPr>
              <a:t>OASIS XML/JSON + Haversine
8-language SMS broadcast engine</a:t>
            </a:r>
          </a:p>
        </p:txBody>
      </p:sp>
      <p:sp>
        <p:nvSpPr>
          <p:cNvPr id="343" name="Rectangle 342"/>
          <p:cNvSpPr/>
          <p:nvPr/>
        </p:nvSpPr>
        <p:spPr>
          <a:xfrm>
            <a:off x="0" y="10386000"/>
            <a:ext cx="15120000" cy="306000"/>
          </a:xfrm>
          <a:prstGeom prst="rect">
            <a:avLst/>
          </a:prstGeom>
          <a:solidFill>
            <a:srgbClr val="0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0" y="10386000"/>
            <a:ext cx="15120000" cy="2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198000" y="10429200"/>
            <a:ext cx="756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" b="0" i="0">
                <a:solidFill>
                  <a:srgbClr val="CBD5E1"/>
                </a:solidFill>
              </a:rPr>
              <a:t>AI-Driven Two-Tier Landslide EWS  |  Dr. R. Rajmohan  |  SRM Institute of Science &amp; Technology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7560000" y="10429200"/>
            <a:ext cx="736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80" b="0" i="0">
                <a:solidFill>
                  <a:srgbClr val="94A3B8"/>
                </a:solidFill>
              </a:rPr>
              <a:t>Dataset: N=1,152 events (2007-2019)  |  Python 3.14 + XGBoost + scikit-learn + FastAPI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